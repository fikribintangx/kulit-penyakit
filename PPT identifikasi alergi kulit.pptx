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89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426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21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371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9582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7529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540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847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993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233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968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4A55128-CB73-4B38-8EC7-8FF30B07F7F3}" type="datetimeFigureOut">
              <a:rPr lang="en-ID" smtClean="0"/>
              <a:t>16/10/2026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822EE1A-CD28-4D3F-89C4-CC750E3A33CB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9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55C2-F2B6-457D-8AB4-1E3DF745BC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396481" y="1784642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sv-SE" b="1" dirty="0"/>
              <a:t>Sistem Pakar Identifikasi Kemungkinan Pemicu Alergi pada Kulit Berdasarkan Gejala Menggunakan Metode Forward Chaining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7878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AFF0-82D9-4A7D-B727-256A6876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Latar</a:t>
            </a:r>
            <a:r>
              <a:rPr lang="en-ID" dirty="0"/>
              <a:t> </a:t>
            </a:r>
            <a:r>
              <a:rPr lang="en-ID" dirty="0" err="1"/>
              <a:t>Belakang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774C6-5048-44B8-B462-6D0635787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Keluhan</a:t>
            </a:r>
            <a:r>
              <a:rPr lang="en-ID" dirty="0"/>
              <a:t> </a:t>
            </a:r>
            <a:r>
              <a:rPr lang="en-ID" dirty="0" err="1"/>
              <a:t>reaksi</a:t>
            </a:r>
            <a:r>
              <a:rPr lang="en-ID" dirty="0"/>
              <a:t> pada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gatal</a:t>
            </a:r>
            <a:r>
              <a:rPr lang="en-ID" dirty="0"/>
              <a:t>, </a:t>
            </a:r>
            <a:r>
              <a:rPr lang="en-ID" dirty="0" err="1"/>
              <a:t>kemerahan</a:t>
            </a:r>
            <a:r>
              <a:rPr lang="en-ID" dirty="0"/>
              <a:t>, </a:t>
            </a:r>
            <a:r>
              <a:rPr lang="en-ID" dirty="0" err="1"/>
              <a:t>ruam</a:t>
            </a:r>
            <a:r>
              <a:rPr lang="en-ID" dirty="0"/>
              <a:t>, dan </a:t>
            </a:r>
            <a:r>
              <a:rPr lang="en-ID" dirty="0" err="1"/>
              <a:t>bentol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macam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reaksi</a:t>
            </a:r>
            <a:r>
              <a:rPr lang="en-ID" dirty="0"/>
              <a:t> pada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disebabkan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alergi</a:t>
            </a:r>
            <a:r>
              <a:rPr lang="en-ID" dirty="0"/>
              <a:t>, </a:t>
            </a:r>
            <a:r>
              <a:rPr lang="en-ID" dirty="0" err="1"/>
              <a:t>Reaksi</a:t>
            </a:r>
            <a:r>
              <a:rPr lang="en-ID" dirty="0"/>
              <a:t> pada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gatal</a:t>
            </a:r>
            <a:r>
              <a:rPr lang="en-ID" dirty="0"/>
              <a:t>, </a:t>
            </a:r>
            <a:r>
              <a:rPr lang="en-ID" dirty="0" err="1"/>
              <a:t>kemerahan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ruam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juga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iritasi</a:t>
            </a:r>
            <a:r>
              <a:rPr lang="en-ID" dirty="0"/>
              <a:t>, </a:t>
            </a:r>
            <a:r>
              <a:rPr lang="en-ID" dirty="0" err="1"/>
              <a:t>infeksi</a:t>
            </a:r>
            <a:r>
              <a:rPr lang="en-ID" dirty="0"/>
              <a:t> </a:t>
            </a:r>
            <a:r>
              <a:rPr lang="en-ID" dirty="0" err="1"/>
              <a:t>bakteri</a:t>
            </a:r>
            <a:r>
              <a:rPr lang="en-ID" dirty="0"/>
              <a:t> dan </a:t>
            </a:r>
            <a:r>
              <a:rPr lang="en-ID" dirty="0" err="1"/>
              <a:t>penyebab</a:t>
            </a:r>
            <a:r>
              <a:rPr lang="en-ID" dirty="0"/>
              <a:t> lain </a:t>
            </a:r>
            <a:r>
              <a:rPr lang="en-ID" dirty="0" err="1"/>
              <a:t>nya</a:t>
            </a:r>
            <a:endParaRPr lang="en-ID" dirty="0"/>
          </a:p>
          <a:p>
            <a:r>
              <a:rPr lang="en-ID" dirty="0"/>
              <a:t>Kita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identidikasi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 yang </a:t>
            </a:r>
            <a:r>
              <a:rPr lang="en-ID" dirty="0" err="1"/>
              <a:t>dialami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pemicunya</a:t>
            </a:r>
            <a:r>
              <a:rPr lang="en-ID" dirty="0"/>
              <a:t>, </a:t>
            </a:r>
            <a:r>
              <a:rPr lang="en-ID" dirty="0" err="1"/>
              <a:t>analisis</a:t>
            </a:r>
            <a:r>
              <a:rPr lang="en-ID" dirty="0"/>
              <a:t> yang </a:t>
            </a:r>
            <a:r>
              <a:rPr lang="en-ID" dirty="0" err="1"/>
              <a:t>biasa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lakukan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“</a:t>
            </a:r>
            <a:r>
              <a:rPr lang="en-ID" b="1" dirty="0"/>
              <a:t>kayak </a:t>
            </a:r>
            <a:r>
              <a:rPr lang="en-ID" b="1" dirty="0" err="1"/>
              <a:t>nya</a:t>
            </a:r>
            <a:r>
              <a:rPr lang="en-ID" b="1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karna</a:t>
            </a:r>
            <a:r>
              <a:rPr lang="en-ID" dirty="0"/>
              <a:t> </a:t>
            </a:r>
            <a:r>
              <a:rPr lang="en-ID" dirty="0" err="1"/>
              <a:t>kena</a:t>
            </a:r>
            <a:r>
              <a:rPr lang="en-ID" dirty="0"/>
              <a:t> </a:t>
            </a:r>
            <a:r>
              <a:rPr lang="en-ID" dirty="0" err="1"/>
              <a:t>serangga</a:t>
            </a:r>
            <a:r>
              <a:rPr lang="en-ID" dirty="0"/>
              <a:t> </a:t>
            </a:r>
            <a:r>
              <a:rPr lang="en-ID" dirty="0" err="1"/>
              <a:t>deh</a:t>
            </a:r>
            <a:r>
              <a:rPr lang="en-ID" dirty="0"/>
              <a:t>” </a:t>
            </a:r>
            <a:r>
              <a:rPr lang="en-ID" dirty="0" err="1"/>
              <a:t>atau</a:t>
            </a:r>
            <a:r>
              <a:rPr lang="en-ID" dirty="0"/>
              <a:t> “</a:t>
            </a:r>
            <a:r>
              <a:rPr lang="en-ID" dirty="0" err="1"/>
              <a:t>atau</a:t>
            </a:r>
            <a:r>
              <a:rPr lang="en-ID" dirty="0"/>
              <a:t> kayak </a:t>
            </a:r>
            <a:r>
              <a:rPr lang="en-ID" dirty="0" err="1"/>
              <a:t>nya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karna</a:t>
            </a:r>
            <a:r>
              <a:rPr lang="en-ID" dirty="0"/>
              <a:t> </a:t>
            </a:r>
            <a:r>
              <a:rPr lang="en-ID" b="1" dirty="0"/>
              <a:t>di </a:t>
            </a:r>
            <a:r>
              <a:rPr lang="en-ID" b="1" dirty="0" err="1"/>
              <a:t>jilat</a:t>
            </a:r>
            <a:r>
              <a:rPr lang="en-ID" b="1" dirty="0"/>
              <a:t> </a:t>
            </a:r>
            <a:r>
              <a:rPr lang="en-ID" b="1" dirty="0" err="1"/>
              <a:t>kuntilanak</a:t>
            </a:r>
            <a:r>
              <a:rPr lang="en-ID" b="1" dirty="0"/>
              <a:t>” </a:t>
            </a:r>
            <a:r>
              <a:rPr lang="en-ID" dirty="0"/>
              <a:t> Dan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hipotesis</a:t>
            </a:r>
            <a:r>
              <a:rPr lang="en-ID" dirty="0"/>
              <a:t> </a:t>
            </a:r>
            <a:r>
              <a:rPr lang="en-ID" dirty="0" err="1"/>
              <a:t>asumsi</a:t>
            </a:r>
            <a:r>
              <a:rPr lang="en-ID" dirty="0"/>
              <a:t> </a:t>
            </a:r>
            <a:r>
              <a:rPr lang="en-ID" dirty="0" err="1"/>
              <a:t>lainnya</a:t>
            </a:r>
            <a:endParaRPr lang="en-ID" dirty="0"/>
          </a:p>
          <a:p>
            <a:r>
              <a:rPr lang="en-ID" dirty="0"/>
              <a:t>Oleh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pakar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gejala</a:t>
            </a:r>
            <a:r>
              <a:rPr lang="en-ID" dirty="0"/>
              <a:t> dan </a:t>
            </a:r>
            <a:r>
              <a:rPr lang="en-ID" dirty="0" err="1"/>
              <a:t>riwayat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pemicu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terstruktur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7708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83CA-9AB6-49AA-9460-7E12FD3B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Rumusan</a:t>
            </a:r>
            <a:r>
              <a:rPr lang="en-ID" dirty="0"/>
              <a:t> </a:t>
            </a:r>
            <a:r>
              <a:rPr lang="en-ID" dirty="0" err="1"/>
              <a:t>Masalah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52755-4EEE-4E36-9BB1-29D31EBCD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pemicu</a:t>
            </a:r>
            <a:r>
              <a:rPr lang="en-ID" dirty="0"/>
              <a:t> </a:t>
            </a:r>
            <a:r>
              <a:rPr lang="en-ID" dirty="0" err="1"/>
              <a:t>alergi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gejala</a:t>
            </a:r>
            <a:r>
              <a:rPr lang="en-ID" dirty="0"/>
              <a:t> yang </a:t>
            </a:r>
            <a:r>
              <a:rPr lang="en-ID" dirty="0" err="1"/>
              <a:t>dialami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?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menghubungkan</a:t>
            </a:r>
            <a:r>
              <a:rPr lang="en-ID" dirty="0"/>
              <a:t> </a:t>
            </a:r>
            <a:r>
              <a:rPr lang="en-ID" dirty="0" err="1"/>
              <a:t>gejala</a:t>
            </a:r>
            <a:r>
              <a:rPr lang="en-ID" dirty="0"/>
              <a:t>, area </a:t>
            </a:r>
            <a:r>
              <a:rPr lang="en-ID" dirty="0" err="1"/>
              <a:t>lokasi</a:t>
            </a:r>
            <a:r>
              <a:rPr lang="en-ID" dirty="0"/>
              <a:t> </a:t>
            </a:r>
            <a:r>
              <a:rPr lang="en-ID" dirty="0" err="1"/>
              <a:t>terjadinya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, dan Riwayat </a:t>
            </a:r>
            <a:r>
              <a:rPr lang="en-ID" dirty="0" err="1"/>
              <a:t>terjadinya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basis </a:t>
            </a:r>
            <a:r>
              <a:rPr lang="en-ID" dirty="0" err="1"/>
              <a:t>pengetahuan</a:t>
            </a:r>
            <a:r>
              <a:rPr lang="en-ID" dirty="0"/>
              <a:t>?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Forward Chaining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kesimpulan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dijelaskan</a:t>
            </a:r>
            <a:r>
              <a:rPr lang="en-ID" dirty="0"/>
              <a:t>?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063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2F4F-FD29-4438-8AD8-739FE205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Tujuan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br>
              <a:rPr lang="en-ID" b="1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70270-C2D4-4FD1-9F8A-4B508463B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Mengumpulkan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gejala</a:t>
            </a:r>
            <a:r>
              <a:rPr lang="en-ID" dirty="0"/>
              <a:t> dan </a:t>
            </a:r>
            <a:r>
              <a:rPr lang="en-ID" dirty="0" err="1"/>
              <a:t>riwayat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kelompok</a:t>
            </a:r>
            <a:r>
              <a:rPr lang="en-ID" dirty="0"/>
              <a:t> </a:t>
            </a:r>
            <a:r>
              <a:rPr lang="en-ID" dirty="0" err="1"/>
              <a:t>pemicu</a:t>
            </a:r>
            <a:r>
              <a:rPr lang="en-ID" dirty="0"/>
              <a:t> yang </a:t>
            </a:r>
            <a:r>
              <a:rPr lang="en-ID" dirty="0" err="1"/>
              <a:t>relevan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IF–THEN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kesimpulan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fakta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alasan</a:t>
            </a:r>
            <a:r>
              <a:rPr lang="en-ID" dirty="0"/>
              <a:t> yang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identifikasi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Memberikan</a:t>
            </a:r>
            <a:r>
              <a:rPr lang="en-ID" dirty="0"/>
              <a:t> saran </a:t>
            </a:r>
            <a:r>
              <a:rPr lang="en-ID" dirty="0" err="1"/>
              <a:t>tindak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 yang </a:t>
            </a:r>
            <a:r>
              <a:rPr lang="en-ID" dirty="0" err="1"/>
              <a:t>aman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3064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6DFC-7738-4819-9C7A-66A65A261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Batasan </a:t>
            </a:r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Kasus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62B83-A0A9-4F2C-AA73-B9D65D243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Fokus</a:t>
            </a:r>
            <a:r>
              <a:rPr lang="en-ID" b="1" dirty="0"/>
              <a:t> </a:t>
            </a:r>
            <a:r>
              <a:rPr lang="en-ID" b="1" dirty="0" err="1"/>
              <a:t>penelitian</a:t>
            </a:r>
            <a:r>
              <a:rPr lang="en-ID" b="1" dirty="0"/>
              <a:t>:</a:t>
            </a:r>
            <a:br>
              <a:rPr lang="en-ID" dirty="0"/>
            </a:br>
            <a:r>
              <a:rPr lang="en-ID" dirty="0" err="1"/>
              <a:t>Identifikasi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pemicu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gejala</a:t>
            </a:r>
            <a:r>
              <a:rPr lang="en-ID" dirty="0"/>
              <a:t> dan </a:t>
            </a:r>
            <a:r>
              <a:rPr lang="en-ID" dirty="0" err="1"/>
              <a:t>riwayat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.</a:t>
            </a:r>
          </a:p>
          <a:p>
            <a:r>
              <a:rPr lang="en-ID" b="1" dirty="0"/>
              <a:t>Data yang </a:t>
            </a:r>
            <a:r>
              <a:rPr lang="en-ID" b="1" dirty="0" err="1"/>
              <a:t>dianalisis</a:t>
            </a:r>
            <a:r>
              <a:rPr lang="en-ID" b="1" dirty="0"/>
              <a:t>: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Gejala</a:t>
            </a:r>
            <a:r>
              <a:rPr lang="en-ID" dirty="0"/>
              <a:t>: </a:t>
            </a:r>
            <a:r>
              <a:rPr lang="en-ID" dirty="0" err="1"/>
              <a:t>gatal</a:t>
            </a:r>
            <a:r>
              <a:rPr lang="en-ID" dirty="0"/>
              <a:t>, </a:t>
            </a:r>
            <a:r>
              <a:rPr lang="en-ID" dirty="0" err="1"/>
              <a:t>kemerahan</a:t>
            </a:r>
            <a:r>
              <a:rPr lang="en-ID" dirty="0"/>
              <a:t>, </a:t>
            </a:r>
            <a:r>
              <a:rPr lang="en-ID" dirty="0" err="1"/>
              <a:t>ruam</a:t>
            </a:r>
            <a:r>
              <a:rPr lang="en-ID" dirty="0"/>
              <a:t>, </a:t>
            </a:r>
            <a:r>
              <a:rPr lang="en-ID" dirty="0" err="1"/>
              <a:t>bentol</a:t>
            </a:r>
            <a:r>
              <a:rPr lang="en-ID" dirty="0"/>
              <a:t>,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kering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Lokasi: </a:t>
            </a:r>
            <a:r>
              <a:rPr lang="en-ID" dirty="0" err="1"/>
              <a:t>wajah</a:t>
            </a:r>
            <a:r>
              <a:rPr lang="en-ID" dirty="0"/>
              <a:t>,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pergelangan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dan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Paparan</a:t>
            </a:r>
            <a:r>
              <a:rPr lang="en-ID" dirty="0"/>
              <a:t>: </a:t>
            </a:r>
            <a:r>
              <a:rPr lang="en-ID" dirty="0" err="1"/>
              <a:t>logam</a:t>
            </a:r>
            <a:r>
              <a:rPr lang="en-ID" dirty="0"/>
              <a:t>, </a:t>
            </a:r>
            <a:r>
              <a:rPr lang="en-ID" dirty="0" err="1"/>
              <a:t>kosmetik</a:t>
            </a:r>
            <a:r>
              <a:rPr lang="en-ID" dirty="0"/>
              <a:t>, </a:t>
            </a:r>
            <a:r>
              <a:rPr lang="en-ID" dirty="0" err="1"/>
              <a:t>pewangi</a:t>
            </a:r>
            <a:r>
              <a:rPr lang="en-ID" dirty="0"/>
              <a:t>, </a:t>
            </a:r>
            <a:r>
              <a:rPr lang="en-ID" dirty="0" err="1"/>
              <a:t>deterjen</a:t>
            </a:r>
            <a:r>
              <a:rPr lang="en-ID" dirty="0"/>
              <a:t>, </a:t>
            </a:r>
            <a:r>
              <a:rPr lang="en-ID" dirty="0" err="1"/>
              <a:t>karet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Waktu </a:t>
            </a:r>
            <a:r>
              <a:rPr lang="en-ID" dirty="0" err="1"/>
              <a:t>muncul</a:t>
            </a:r>
            <a:r>
              <a:rPr lang="en-ID" dirty="0"/>
              <a:t> dan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berulangnya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.</a:t>
            </a:r>
          </a:p>
          <a:p>
            <a:r>
              <a:rPr lang="en-ID" b="1" dirty="0"/>
              <a:t>Batasan: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menetapkan</a:t>
            </a:r>
            <a:r>
              <a:rPr lang="en-ID" dirty="0"/>
              <a:t> diagnosis </a:t>
            </a:r>
            <a:r>
              <a:rPr lang="en-ID" dirty="0" err="1"/>
              <a:t>medis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alergen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 Hasil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identifikasi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yang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interpretasi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lanju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94755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5D18-F758-4708-8D7B-1EBBCE2B9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Metode</a:t>
            </a:r>
            <a:r>
              <a:rPr lang="en-ID" dirty="0"/>
              <a:t> Forward Chaining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391014-BC8D-4DB4-86E3-E410223CC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92505"/>
            <a:ext cx="7445385" cy="2872989"/>
          </a:xfrm>
        </p:spPr>
      </p:pic>
    </p:spTree>
    <p:extLst>
      <p:ext uri="{BB962C8B-B14F-4D97-AF65-F5344CB8AC3E}">
        <p14:creationId xmlns:p14="http://schemas.microsoft.com/office/powerpoint/2010/main" val="815147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A7CB-21F8-4972-B15A-C579773E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Basis </a:t>
            </a:r>
            <a:r>
              <a:rPr lang="en-ID" dirty="0" err="1"/>
              <a:t>Pengetahuan</a:t>
            </a:r>
            <a:endParaRPr lang="en-ID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E80A8B9-FF34-437F-966F-160C197EB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3372010"/>
              </p:ext>
            </p:extLst>
          </p:nvPr>
        </p:nvGraphicFramePr>
        <p:xfrm>
          <a:off x="1356016" y="1929920"/>
          <a:ext cx="8217192" cy="3388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4788">
                  <a:extLst>
                    <a:ext uri="{9D8B030D-6E8A-4147-A177-3AD203B41FA5}">
                      <a16:colId xmlns:a16="http://schemas.microsoft.com/office/drawing/2014/main" val="417634463"/>
                    </a:ext>
                  </a:extLst>
                </a:gridCol>
                <a:gridCol w="6322404">
                  <a:extLst>
                    <a:ext uri="{9D8B030D-6E8A-4147-A177-3AD203B41FA5}">
                      <a16:colId xmlns:a16="http://schemas.microsoft.com/office/drawing/2014/main" val="508261693"/>
                    </a:ext>
                  </a:extLst>
                </a:gridCol>
              </a:tblGrid>
              <a:tr h="430758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>
                          <a:effectLst/>
                        </a:rPr>
                        <a:t>Komponen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>
                          <a:effectLst/>
                        </a:rPr>
                        <a:t>Contoh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84018574"/>
                  </a:ext>
                </a:extLst>
              </a:tr>
              <a:tr h="430758"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</a:rPr>
                        <a:t>Gejala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</a:rPr>
                        <a:t>Gatal dan kemerahan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39873913"/>
                  </a:ext>
                </a:extLst>
              </a:tr>
              <a:tr h="430758"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 dirty="0">
                          <a:effectLst/>
                        </a:rPr>
                        <a:t>Lokasi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 dirty="0" err="1">
                          <a:effectLst/>
                        </a:rPr>
                        <a:t>Pergelangan</a:t>
                      </a:r>
                      <a:r>
                        <a:rPr lang="en-ID" sz="2000" u="none" strike="noStrike" dirty="0">
                          <a:effectLst/>
                        </a:rPr>
                        <a:t> </a:t>
                      </a:r>
                      <a:r>
                        <a:rPr lang="en-ID" sz="2000" u="none" strike="noStrike" dirty="0" err="1">
                          <a:effectLst/>
                        </a:rPr>
                        <a:t>tangan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42557469"/>
                  </a:ext>
                </a:extLst>
              </a:tr>
              <a:tr h="430758"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</a:rPr>
                        <a:t>Riwayat paparan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</a:rPr>
                        <a:t>Penggunaan jam tangan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62278397"/>
                  </a:ext>
                </a:extLst>
              </a:tr>
              <a:tr h="430758"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</a:rPr>
                        <a:t>Kemungkinan kondisi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</a:rPr>
                        <a:t>Dermatitis kontak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74603702"/>
                  </a:ext>
                </a:extLst>
              </a:tr>
              <a:tr h="430758"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</a:rPr>
                        <a:t>Kelompok pemicu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</a:rPr>
                        <a:t>Logam atau bahan tali jam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88519144"/>
                  </a:ext>
                </a:extLst>
              </a:tr>
              <a:tr h="430758"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</a:rPr>
                        <a:t>Aturan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 dirty="0">
                          <a:effectLst/>
                        </a:rPr>
                        <a:t>IF </a:t>
                      </a:r>
                      <a:r>
                        <a:rPr lang="en-ID" sz="2000" u="none" strike="noStrike" dirty="0" err="1">
                          <a:effectLst/>
                        </a:rPr>
                        <a:t>gejala</a:t>
                      </a:r>
                      <a:r>
                        <a:rPr lang="en-ID" sz="2000" u="none" strike="noStrike" dirty="0">
                          <a:effectLst/>
                        </a:rPr>
                        <a:t> dan </a:t>
                      </a:r>
                      <a:r>
                        <a:rPr lang="en-ID" sz="2000" u="none" strike="noStrike" dirty="0" err="1">
                          <a:effectLst/>
                        </a:rPr>
                        <a:t>pola</a:t>
                      </a:r>
                      <a:r>
                        <a:rPr lang="en-ID" sz="2000" u="none" strike="noStrike" dirty="0">
                          <a:effectLst/>
                        </a:rPr>
                        <a:t> </a:t>
                      </a:r>
                      <a:r>
                        <a:rPr lang="en-ID" sz="2000" u="none" strike="noStrike" dirty="0" err="1">
                          <a:effectLst/>
                        </a:rPr>
                        <a:t>kontak</a:t>
                      </a:r>
                      <a:r>
                        <a:rPr lang="en-ID" sz="2000" u="none" strike="noStrike" dirty="0">
                          <a:effectLst/>
                        </a:rPr>
                        <a:t> </a:t>
                      </a:r>
                      <a:r>
                        <a:rPr lang="en-ID" sz="2000" u="none" strike="noStrike" dirty="0" err="1">
                          <a:effectLst/>
                        </a:rPr>
                        <a:t>sesuai</a:t>
                      </a:r>
                      <a:r>
                        <a:rPr lang="en-ID" sz="2000" u="none" strike="noStrike" dirty="0">
                          <a:effectLst/>
                        </a:rPr>
                        <a:t>, THEN </a:t>
                      </a:r>
                      <a:r>
                        <a:rPr lang="en-ID" sz="2000" u="none" strike="noStrike" dirty="0" err="1">
                          <a:effectLst/>
                        </a:rPr>
                        <a:t>pertimbangkan</a:t>
                      </a:r>
                      <a:r>
                        <a:rPr lang="en-ID" sz="2000" u="none" strike="noStrike" dirty="0">
                          <a:effectLst/>
                        </a:rPr>
                        <a:t> dermatitis </a:t>
                      </a:r>
                      <a:r>
                        <a:rPr lang="en-ID" sz="2000" u="none" strike="noStrike" dirty="0" err="1">
                          <a:effectLst/>
                        </a:rPr>
                        <a:t>kontak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4731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806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9417-B871-4B13-9BFA-F035307DF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9248"/>
            <a:ext cx="10058400" cy="906936"/>
          </a:xfrm>
        </p:spPr>
        <p:txBody>
          <a:bodyPr/>
          <a:lstStyle/>
          <a:p>
            <a:r>
              <a:rPr lang="en-ID" dirty="0" err="1"/>
              <a:t>Simulasi</a:t>
            </a:r>
            <a:r>
              <a:rPr lang="en-ID" dirty="0"/>
              <a:t> </a:t>
            </a:r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Kasus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23FA8-FAA9-474D-B9F5-1267CF75D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022" y="1091820"/>
            <a:ext cx="10058400" cy="4023360"/>
          </a:xfrm>
        </p:spPr>
        <p:txBody>
          <a:bodyPr>
            <a:noAutofit/>
          </a:bodyPr>
          <a:lstStyle/>
          <a:p>
            <a:r>
              <a:rPr lang="en-ID" dirty="0" err="1"/>
              <a:t>Kasus</a:t>
            </a:r>
            <a:r>
              <a:rPr lang="en-ID" dirty="0"/>
              <a:t>: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gatal</a:t>
            </a:r>
            <a:r>
              <a:rPr lang="en-ID" dirty="0"/>
              <a:t> dan </a:t>
            </a:r>
            <a:r>
              <a:rPr lang="en-ID" dirty="0" err="1"/>
              <a:t>kemerahan</a:t>
            </a:r>
            <a:r>
              <a:rPr lang="en-ID" dirty="0"/>
              <a:t> pada </a:t>
            </a:r>
            <a:r>
              <a:rPr lang="en-ID" dirty="0" err="1"/>
              <a:t>pergelangan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jam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.</a:t>
            </a:r>
          </a:p>
          <a:p>
            <a:r>
              <a:rPr lang="en-ID" sz="1800" dirty="0"/>
              <a:t>Fakta yang </a:t>
            </a:r>
            <a:r>
              <a:rPr lang="en-ID" sz="1800" dirty="0" err="1"/>
              <a:t>ditemukan</a:t>
            </a:r>
            <a:endParaRPr lang="en-ID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1800" dirty="0" err="1"/>
              <a:t>Gatal</a:t>
            </a:r>
            <a:r>
              <a:rPr lang="en-ID" sz="1800" dirty="0"/>
              <a:t>: </a:t>
            </a:r>
            <a:r>
              <a:rPr lang="en-ID" sz="1800" dirty="0" err="1"/>
              <a:t>Ya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dirty="0" err="1"/>
              <a:t>Kemerahan</a:t>
            </a:r>
            <a:r>
              <a:rPr lang="en-ID" sz="1800" dirty="0"/>
              <a:t>: </a:t>
            </a:r>
            <a:r>
              <a:rPr lang="en-ID" sz="1800" dirty="0" err="1"/>
              <a:t>Ya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dirty="0" err="1"/>
              <a:t>Keluhan</a:t>
            </a:r>
            <a:r>
              <a:rPr lang="en-ID" sz="1800" dirty="0"/>
              <a:t> pada area </a:t>
            </a:r>
            <a:r>
              <a:rPr lang="en-ID" sz="1800" dirty="0" err="1"/>
              <a:t>kontak</a:t>
            </a:r>
            <a:r>
              <a:rPr lang="en-ID" sz="1800" dirty="0"/>
              <a:t>: </a:t>
            </a:r>
            <a:r>
              <a:rPr lang="en-ID" sz="1800" dirty="0" err="1"/>
              <a:t>Ya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dirty="0"/>
              <a:t>Riwayat </a:t>
            </a:r>
            <a:r>
              <a:rPr lang="en-ID" sz="1800" dirty="0" err="1"/>
              <a:t>penggunaan</a:t>
            </a:r>
            <a:r>
              <a:rPr lang="en-ID" sz="1800" dirty="0"/>
              <a:t> jam </a:t>
            </a:r>
            <a:r>
              <a:rPr lang="en-ID" sz="1800" dirty="0" err="1"/>
              <a:t>tangan</a:t>
            </a:r>
            <a:r>
              <a:rPr lang="en-ID" sz="1800" dirty="0"/>
              <a:t>: </a:t>
            </a:r>
            <a:r>
              <a:rPr lang="en-ID" sz="1800" dirty="0" err="1"/>
              <a:t>Ya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dirty="0" err="1"/>
              <a:t>Bahan</a:t>
            </a:r>
            <a:r>
              <a:rPr lang="en-ID" sz="1800" dirty="0"/>
              <a:t> jam </a:t>
            </a:r>
            <a:r>
              <a:rPr lang="en-ID" sz="1800" dirty="0" err="1"/>
              <a:t>tangan</a:t>
            </a:r>
            <a:r>
              <a:rPr lang="en-ID" sz="1800" dirty="0"/>
              <a:t>: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diketahui</a:t>
            </a:r>
            <a:r>
              <a:rPr lang="en-ID" sz="1800" dirty="0"/>
              <a:t>.</a:t>
            </a:r>
          </a:p>
          <a:p>
            <a:r>
              <a:rPr lang="en-ID" sz="1800" dirty="0"/>
              <a:t>Hasil </a:t>
            </a:r>
            <a:r>
              <a:rPr lang="en-ID" sz="1800" dirty="0" err="1"/>
              <a:t>penalaran</a:t>
            </a:r>
            <a:endParaRPr lang="en-ID" sz="1800" dirty="0"/>
          </a:p>
          <a:p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mempertimbangkan</a:t>
            </a:r>
            <a:r>
              <a:rPr lang="en-ID" sz="1800" dirty="0"/>
              <a:t> </a:t>
            </a:r>
            <a:r>
              <a:rPr lang="en-ID" sz="1800" dirty="0" err="1"/>
              <a:t>kemungkinan</a:t>
            </a:r>
            <a:r>
              <a:rPr lang="en-ID" sz="1800" dirty="0"/>
              <a:t> dermatitis </a:t>
            </a:r>
            <a:r>
              <a:rPr lang="en-ID" sz="1800" dirty="0" err="1"/>
              <a:t>kontak</a:t>
            </a:r>
            <a:r>
              <a:rPr lang="en-ID" sz="1800" dirty="0"/>
              <a:t>. </a:t>
            </a:r>
            <a:r>
              <a:rPr lang="en-ID" sz="1800" dirty="0" err="1"/>
              <a:t>Kelompok</a:t>
            </a:r>
            <a:r>
              <a:rPr lang="en-ID" sz="1800" dirty="0"/>
              <a:t> </a:t>
            </a:r>
            <a:r>
              <a:rPr lang="en-ID" sz="1800" dirty="0" err="1"/>
              <a:t>pemicu</a:t>
            </a:r>
            <a:r>
              <a:rPr lang="en-ID" sz="1800" dirty="0"/>
              <a:t> yang </a:t>
            </a:r>
            <a:r>
              <a:rPr lang="en-ID" sz="1800" dirty="0" err="1"/>
              <a:t>perlu</a:t>
            </a:r>
            <a:r>
              <a:rPr lang="en-ID" sz="1800" dirty="0"/>
              <a:t> </a:t>
            </a:r>
            <a:r>
              <a:rPr lang="en-ID" sz="1800" dirty="0" err="1"/>
              <a:t>ditelusuri</a:t>
            </a:r>
            <a:r>
              <a:rPr lang="en-ID" sz="1800" dirty="0"/>
              <a:t> </a:t>
            </a:r>
            <a:r>
              <a:rPr lang="en-ID" sz="1800" dirty="0" err="1"/>
              <a:t>meliputi</a:t>
            </a:r>
            <a:r>
              <a:rPr lang="en-ID" sz="1800" dirty="0"/>
              <a:t> </a:t>
            </a:r>
            <a:r>
              <a:rPr lang="en-ID" sz="1800" dirty="0" err="1"/>
              <a:t>logam</a:t>
            </a:r>
            <a:r>
              <a:rPr lang="en-ID" sz="1800" dirty="0"/>
              <a:t>, </a:t>
            </a:r>
            <a:r>
              <a:rPr lang="en-ID" sz="1800" dirty="0" err="1"/>
              <a:t>bahan</a:t>
            </a:r>
            <a:r>
              <a:rPr lang="en-ID" sz="1800" dirty="0"/>
              <a:t> </a:t>
            </a:r>
            <a:r>
              <a:rPr lang="en-ID" sz="1800" dirty="0" err="1"/>
              <a:t>tali</a:t>
            </a:r>
            <a:r>
              <a:rPr lang="en-ID" sz="1800" dirty="0"/>
              <a:t> jam,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iritasi</a:t>
            </a:r>
            <a:r>
              <a:rPr lang="en-ID" sz="1800" dirty="0"/>
              <a:t> </a:t>
            </a:r>
            <a:r>
              <a:rPr lang="en-ID" sz="1800" dirty="0" err="1"/>
              <a:t>akibat</a:t>
            </a:r>
            <a:r>
              <a:rPr lang="en-ID" sz="1800" dirty="0"/>
              <a:t> </a:t>
            </a:r>
            <a:r>
              <a:rPr lang="en-ID" sz="1800" dirty="0" err="1"/>
              <a:t>keringat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gesekan</a:t>
            </a:r>
            <a:r>
              <a:rPr lang="en-ID" sz="1800" dirty="0"/>
              <a:t>.</a:t>
            </a:r>
          </a:p>
          <a:p>
            <a:r>
              <a:rPr lang="en-ID" sz="1800" dirty="0"/>
              <a:t>Hasil </a:t>
            </a:r>
            <a:r>
              <a:rPr lang="en-ID" sz="1800" dirty="0" err="1"/>
              <a:t>belum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memastikan</a:t>
            </a:r>
            <a:r>
              <a:rPr lang="en-ID" sz="1800" dirty="0"/>
              <a:t> </a:t>
            </a:r>
            <a:r>
              <a:rPr lang="en-ID" sz="1800" dirty="0" err="1"/>
              <a:t>alergi</a:t>
            </a:r>
            <a:r>
              <a:rPr lang="en-ID" sz="1800" dirty="0"/>
              <a:t> </a:t>
            </a:r>
            <a:r>
              <a:rPr lang="en-ID" sz="1800" dirty="0" err="1"/>
              <a:t>logam</a:t>
            </a:r>
            <a:r>
              <a:rPr lang="en-ID" sz="1800" dirty="0"/>
              <a:t> </a:t>
            </a:r>
            <a:r>
              <a:rPr lang="en-ID" sz="1800" dirty="0" err="1"/>
              <a:t>karena</a:t>
            </a:r>
            <a:r>
              <a:rPr lang="en-ID" sz="1800" dirty="0"/>
              <a:t> </a:t>
            </a:r>
            <a:r>
              <a:rPr lang="en-ID" sz="1800" dirty="0" err="1"/>
              <a:t>bahan</a:t>
            </a:r>
            <a:r>
              <a:rPr lang="en-ID" sz="1800" dirty="0"/>
              <a:t> </a:t>
            </a:r>
            <a:r>
              <a:rPr lang="en-ID" sz="1800" dirty="0" err="1"/>
              <a:t>produk</a:t>
            </a:r>
            <a:r>
              <a:rPr lang="en-ID" sz="1800" dirty="0"/>
              <a:t> dan </a:t>
            </a:r>
            <a:r>
              <a:rPr lang="en-ID" sz="1800" dirty="0" err="1"/>
              <a:t>penyebab</a:t>
            </a:r>
            <a:r>
              <a:rPr lang="en-ID" sz="1800" dirty="0"/>
              <a:t> </a:t>
            </a:r>
            <a:r>
              <a:rPr lang="en-ID" sz="1800" dirty="0" err="1"/>
              <a:t>keluhan</a:t>
            </a:r>
            <a:r>
              <a:rPr lang="en-ID" sz="1800" dirty="0"/>
              <a:t> </a:t>
            </a:r>
            <a:r>
              <a:rPr lang="en-ID" sz="1800" dirty="0" err="1"/>
              <a:t>belum</a:t>
            </a:r>
            <a:r>
              <a:rPr lang="en-ID" sz="1800" dirty="0"/>
              <a:t> </a:t>
            </a:r>
            <a:r>
              <a:rPr lang="en-ID" sz="1800" dirty="0" err="1"/>
              <a:t>terkonfirmasi</a:t>
            </a:r>
            <a:r>
              <a:rPr lang="en-ID" sz="1800" dirty="0"/>
              <a:t>.</a:t>
            </a:r>
          </a:p>
          <a:p>
            <a:pPr marL="0" indent="0">
              <a:buNone/>
            </a:pP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34324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CC73-2544-4131-8722-B1D66C36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Pengujian</a:t>
            </a:r>
            <a:r>
              <a:rPr lang="en-ID" dirty="0"/>
              <a:t> dan </a:t>
            </a:r>
            <a:r>
              <a:rPr lang="en-ID" dirty="0" err="1"/>
              <a:t>Keamanan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D6862-DDBD-4720-A96A-7ACA841AD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yang </a:t>
            </a:r>
            <a:r>
              <a:rPr lang="en-ID" dirty="0" err="1"/>
              <a:t>dirancang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Meminta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fakta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mencukupi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mempertimbangkan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mengklaim</a:t>
            </a:r>
            <a:r>
              <a:rPr lang="en-ID" dirty="0"/>
              <a:t> diagnosis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kepastian</a:t>
            </a:r>
            <a:r>
              <a:rPr lang="en-ID" dirty="0"/>
              <a:t> </a:t>
            </a:r>
            <a:r>
              <a:rPr lang="en-ID" dirty="0" err="1"/>
              <a:t>alergen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Memprioritaskan</a:t>
            </a:r>
            <a:r>
              <a:rPr lang="en-ID" dirty="0"/>
              <a:t> </a:t>
            </a:r>
            <a:r>
              <a:rPr lang="en-ID" dirty="0" err="1"/>
              <a:t>tanda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.</a:t>
            </a:r>
          </a:p>
          <a:p>
            <a:r>
              <a:rPr lang="en-ID" dirty="0" err="1"/>
              <a:t>Apabila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melaporkan</a:t>
            </a:r>
            <a:r>
              <a:rPr lang="en-ID" dirty="0"/>
              <a:t> </a:t>
            </a:r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bernapas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pembengkakan</a:t>
            </a:r>
            <a:r>
              <a:rPr lang="en-ID" dirty="0"/>
              <a:t> </a:t>
            </a:r>
            <a:r>
              <a:rPr lang="en-ID" dirty="0" err="1"/>
              <a:t>lidah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tenggorokan</a:t>
            </a:r>
            <a:r>
              <a:rPr lang="en-ID" dirty="0"/>
              <a:t>,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mengarahkan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mendapatkan</a:t>
            </a:r>
            <a:r>
              <a:rPr lang="en-ID" dirty="0"/>
              <a:t> </a:t>
            </a:r>
            <a:r>
              <a:rPr lang="en-ID" dirty="0" err="1"/>
              <a:t>pertolongan</a:t>
            </a:r>
            <a:r>
              <a:rPr lang="en-ID" dirty="0"/>
              <a:t> </a:t>
            </a:r>
            <a:r>
              <a:rPr lang="en-ID" dirty="0" err="1"/>
              <a:t>darurat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melanjutkan</a:t>
            </a:r>
            <a:r>
              <a:rPr lang="en-ID" dirty="0"/>
              <a:t> </a:t>
            </a:r>
            <a:r>
              <a:rPr lang="en-ID" dirty="0" err="1"/>
              <a:t>identifikasi</a:t>
            </a:r>
            <a:r>
              <a:rPr lang="en-ID" dirty="0"/>
              <a:t> </a:t>
            </a:r>
            <a:r>
              <a:rPr lang="en-ID" dirty="0" err="1"/>
              <a:t>biasa</a:t>
            </a:r>
            <a:r>
              <a:rPr lang="en-ID" dirty="0"/>
              <a:t>.</a:t>
            </a:r>
          </a:p>
          <a:p>
            <a:r>
              <a:rPr lang="en-ID" dirty="0" err="1"/>
              <a:t>Validasi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referensi</a:t>
            </a:r>
            <a:r>
              <a:rPr lang="en-ID" dirty="0"/>
              <a:t> yang </a:t>
            </a:r>
            <a:r>
              <a:rPr lang="en-ID" dirty="0" err="1"/>
              <a:t>relevan</a:t>
            </a:r>
            <a:r>
              <a:rPr lang="en-ID" dirty="0"/>
              <a:t> dan, </a:t>
            </a:r>
            <a:r>
              <a:rPr lang="en-ID" dirty="0" err="1"/>
              <a:t>bila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, </a:t>
            </a:r>
            <a:r>
              <a:rPr lang="en-ID" dirty="0" err="1"/>
              <a:t>peninjauan</a:t>
            </a:r>
            <a:r>
              <a:rPr lang="en-ID" dirty="0"/>
              <a:t>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99846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D6D2-FA0E-4AFD-82C1-A2BBF552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Kesimpulan dan </a:t>
            </a:r>
            <a:r>
              <a:rPr lang="en-ID" b="1" dirty="0" err="1"/>
              <a:t>Pengembangan</a:t>
            </a:r>
            <a:br>
              <a:rPr lang="en-ID" b="1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B2D82-DE8B-43FF-AC0E-DA7BA290B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pakar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pemicu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gejala</a:t>
            </a:r>
            <a:r>
              <a:rPr lang="en-ID" dirty="0"/>
              <a:t>, </a:t>
            </a:r>
            <a:r>
              <a:rPr lang="en-ID" dirty="0" err="1"/>
              <a:t>lokasi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, dan </a:t>
            </a:r>
            <a:r>
              <a:rPr lang="en-ID" dirty="0" err="1"/>
              <a:t>riwayat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Forward Chaining.</a:t>
            </a:r>
          </a:p>
          <a:p>
            <a:r>
              <a:rPr lang="en-ID" dirty="0" err="1"/>
              <a:t>Keberhasilan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bergantung</a:t>
            </a:r>
            <a:r>
              <a:rPr lang="en-ID" dirty="0"/>
              <a:t> pada </a:t>
            </a:r>
            <a:r>
              <a:rPr lang="en-ID" dirty="0" err="1"/>
              <a:t>kualitas</a:t>
            </a:r>
            <a:r>
              <a:rPr lang="en-ID" dirty="0"/>
              <a:t> basis </a:t>
            </a:r>
            <a:r>
              <a:rPr lang="en-ID" dirty="0" err="1"/>
              <a:t>pengetahuan</a:t>
            </a:r>
            <a:r>
              <a:rPr lang="en-ID" dirty="0"/>
              <a:t>, </a:t>
            </a:r>
            <a:r>
              <a:rPr lang="en-ID" dirty="0" err="1"/>
              <a:t>ketepatan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IF–THEN, </a:t>
            </a:r>
            <a:r>
              <a:rPr lang="en-ID" dirty="0" err="1"/>
              <a:t>keterlacakan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dirty="0" err="1"/>
              <a:t>ketidakpastian</a:t>
            </a:r>
            <a:r>
              <a:rPr lang="en-ID" dirty="0"/>
              <a:t>.</a:t>
            </a:r>
          </a:p>
          <a:p>
            <a:r>
              <a:rPr lang="en-ID" b="1" dirty="0" err="1"/>
              <a:t>Pengembangan</a:t>
            </a:r>
            <a:r>
              <a:rPr lang="en-ID" b="1" dirty="0"/>
              <a:t> </a:t>
            </a:r>
            <a:r>
              <a:rPr lang="en-ID" b="1" dirty="0" err="1"/>
              <a:t>berikutnya</a:t>
            </a:r>
            <a:r>
              <a:rPr lang="en-ID" b="1" dirty="0"/>
              <a:t>: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dirty="0" err="1"/>
              <a:t>Memvalidasi</a:t>
            </a:r>
            <a:r>
              <a:rPr lang="en-ID" dirty="0"/>
              <a:t> basis </a:t>
            </a:r>
            <a:r>
              <a:rPr lang="en-ID" dirty="0" err="1"/>
              <a:t>pengetahuan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/>
              <a:t>Menyusun </a:t>
            </a:r>
            <a:r>
              <a:rPr lang="en-ID" dirty="0" err="1"/>
              <a:t>aturan</a:t>
            </a:r>
            <a:r>
              <a:rPr lang="en-ID" dirty="0"/>
              <a:t> IF–THEN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terstruktur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Merancang</a:t>
            </a:r>
            <a:r>
              <a:rPr lang="en-ID" dirty="0"/>
              <a:t> </a:t>
            </a:r>
            <a:r>
              <a:rPr lang="en-ID" dirty="0" err="1"/>
              <a:t>antarmuka</a:t>
            </a:r>
            <a:r>
              <a:rPr lang="en-ID" dirty="0"/>
              <a:t> dan database.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Mengimplementasikan</a:t>
            </a:r>
            <a:r>
              <a:rPr lang="en-ID" dirty="0"/>
              <a:t> </a:t>
            </a:r>
            <a:r>
              <a:rPr lang="en-ID" dirty="0" err="1"/>
              <a:t>mesin</a:t>
            </a:r>
            <a:r>
              <a:rPr lang="en-ID" dirty="0"/>
              <a:t> </a:t>
            </a:r>
            <a:r>
              <a:rPr lang="en-ID" dirty="0" err="1"/>
              <a:t>inferensi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skenario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969637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68</TotalTime>
  <Words>623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Sistem Pakar Identifikasi Kemungkinan Pemicu Alergi pada Kulit Berdasarkan Gejala Menggunakan Metode Forward Chaining</vt:lpstr>
      <vt:lpstr>Latar Belakang</vt:lpstr>
      <vt:lpstr>Rumusan Masalah</vt:lpstr>
      <vt:lpstr>Tujuan Sistem </vt:lpstr>
      <vt:lpstr>Batasan Studi Kasus</vt:lpstr>
      <vt:lpstr>Metode Forward Chaining</vt:lpstr>
      <vt:lpstr>Basis Pengetahuan</vt:lpstr>
      <vt:lpstr>Simulasi Studi Kasus</vt:lpstr>
      <vt:lpstr>Pengujian dan Keamanan</vt:lpstr>
      <vt:lpstr>Kesimpulan dan Pengembangan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Pakar Identifikasi Kemungkinan Pemicu Alergi pada Kulit Berdasarkan Gejala Menggunakan Metode Forward Chaining</dc:title>
  <dc:creator>sayyid abdul wasye</dc:creator>
  <cp:lastModifiedBy>sayyid abdul wasye</cp:lastModifiedBy>
  <cp:revision>1</cp:revision>
  <dcterms:created xsi:type="dcterms:W3CDTF">2026-10-16T11:21:11Z</dcterms:created>
  <dcterms:modified xsi:type="dcterms:W3CDTF">2026-10-16T12:29:22Z</dcterms:modified>
</cp:coreProperties>
</file>